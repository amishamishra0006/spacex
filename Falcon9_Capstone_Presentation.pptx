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000000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 panose="020F0502020204030204"/>
              </a:rPr>
              <a:t>Landing Success Rate by Flight-Number Bucket (sample data)</a:t>
            </a:r>
            <a:endParaRPr sz="1300" b="0" i="0" u="none" strike="noStrike">
              <a:solidFill>
                <a:srgbClr val="000000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1–10</c:v>
                </c:pt>
                <c:pt idx="1">
                  <c:v>11–20</c:v>
                </c:pt>
                <c:pt idx="2">
                  <c:v>21–30</c:v>
                </c:pt>
                <c:pt idx="3">
                  <c:v>31–40</c:v>
                </c:pt>
                <c:pt idx="4">
                  <c:v>41–50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</c:v>
                </c:pt>
                <c:pt idx="1">
                  <c:v>0.3</c:v>
                </c:pt>
                <c:pt idx="2">
                  <c:v>0.7</c:v>
                </c:pt>
                <c:pt idx="3">
                  <c:v>0.9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 cmpd="sng" algn="ctr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2e01996-1145-4ba8-b05b-ee0c60a05f21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000000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 panose="020F0502020204030204"/>
              </a:rPr>
              <a:t>Success Rate by Launch Site (sample data)</a:t>
            </a:r>
            <a:endParaRPr sz="1300" b="0" i="0" u="none" strike="noStrike">
              <a:solidFill>
                <a:srgbClr val="000000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CCAFS SLC-40</c:v>
                </c:pt>
                <c:pt idx="1">
                  <c:v>KSC LC-39A</c:v>
                </c:pt>
                <c:pt idx="2">
                  <c:v>VAFB SLC-4E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</c:v>
                </c:pt>
                <c:pt idx="1">
                  <c:v>0.77</c:v>
                </c:pt>
                <c:pt idx="2">
                  <c:v>0.58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 cmpd="sng" algn="ctr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804297d-01f5-40f0-80a0-0bb7f44cf247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000000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 panose="020F0502020204030204"/>
              </a:rPr>
              <a:t>Landing Success Rate by Year (sample data)</a:t>
            </a:r>
            <a:endParaRPr sz="1300" b="0" i="0" u="none" strike="noStrike">
              <a:solidFill>
                <a:srgbClr val="000000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ln w="38100" cap="flat" cmpd="sng" algn="ctr">
              <a:solidFill>
                <a:srgbClr val="E8871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871E"/>
              </a:solidFill>
              <a:ln w="9525" cap="flat" cmpd="sng" algn="ctr">
                <a:solidFill>
                  <a:srgbClr val="E8871E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2013</c:v>
                </c:pt>
                <c:pt idx="1">
                  <c:v>2015</c:v>
                </c:pt>
                <c:pt idx="2">
                  <c:v>2017</c:v>
                </c:pt>
                <c:pt idx="3">
                  <c:v>2019</c:v>
                </c:pt>
                <c:pt idx="4">
                  <c:v>2020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0.14</c:v>
                </c:pt>
                <c:pt idx="2">
                  <c:v>0.6</c:v>
                </c:pt>
                <c:pt idx="3">
                  <c:v>0.83</c:v>
                </c:pt>
                <c:pt idx="4">
                  <c:v>0.91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31cf238a-5cd9-4a63-9afa-c5d5c3200ddb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000000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 panose="020F0502020204030204"/>
              </a:rPr>
              <a:t>Test-Set Accuracy by Model (sample data)</a:t>
            </a:r>
            <a:endParaRPr sz="1300" b="0" i="0" u="none" strike="noStrike">
              <a:solidFill>
                <a:srgbClr val="000000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Regression</c:v>
                </c:pt>
                <c:pt idx="1">
                  <c:v>SVM</c:v>
                </c:pt>
                <c:pt idx="2">
                  <c:v>Decision Tree</c:v>
                </c:pt>
                <c:pt idx="3">
                  <c:v>KNN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0.833</c:v>
                </c:pt>
                <c:pt idx="1">
                  <c:v>0.833</c:v>
                </c:pt>
                <c:pt idx="2">
                  <c:v>0.889</c:v>
                </c:pt>
                <c:pt idx="3">
                  <c:v>0.833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 cmpd="sng" algn="ctr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bd5e6967-9898-43d5-ab2c-4ab345b97c65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all italic/bracketed placeholder text throughout this deck with your actual findings before submitting.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572000" cy="4572000"/>
          </a:xfrm>
          <a:prstGeom prst="ellipse">
            <a:avLst/>
          </a:prstGeom>
          <a:solidFill>
            <a:srgbClr val="141B49"/>
          </a:solidFill>
        </p:spPr>
      </p:sp>
      <p:sp>
        <p:nvSpPr>
          <p:cNvPr id="3" name="Shape 1"/>
          <p:cNvSpPr/>
          <p:nvPr/>
        </p:nvSpPr>
        <p:spPr>
          <a:xfrm>
            <a:off x="10789920" y="4754880"/>
            <a:ext cx="2743200" cy="2743200"/>
          </a:xfrm>
          <a:prstGeom prst="ellipse">
            <a:avLst/>
          </a:prstGeom>
          <a:solidFill>
            <a:srgbClr val="141B49"/>
          </a:solidFill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87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APPLIED DATA SCIENCE CAPSTONE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96012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Predicting Falcon 9 First-Stage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Landing Success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046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data science journey from raw launch records to a predictive model — and what it means for the economics of reusable rockets.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457200" cy="36576"/>
          </a:xfrm>
          <a:prstGeom prst="rect">
            <a:avLst/>
          </a:prstGeom>
          <a:solidFill>
            <a:srgbClr val="E8871E"/>
          </a:solidFill>
        </p:spPr>
      </p:sp>
      <p:sp>
        <p:nvSpPr>
          <p:cNvPr id="8" name="Text 6"/>
          <p:cNvSpPr/>
          <p:nvPr/>
        </p:nvSpPr>
        <p:spPr>
          <a:xfrm>
            <a:off x="822960" y="5257800"/>
            <a:ext cx="5486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bg1"/>
                </a:solidFill>
              </a:rPr>
              <a:t>Amisha Mishra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Applied Data Science Capstone — IBM / Coursera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Date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This Project Set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5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572768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0" y="1554480"/>
            <a:ext cx="740664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Determine whether the Falcon 9 first stage will land successfully, using public launch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411480" cy="41148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0" name="Text 8"/>
          <p:cNvSpPr/>
          <p:nvPr/>
        </p:nvSpPr>
        <p:spPr>
          <a:xfrm>
            <a:off x="640080" y="265176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624328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0" y="2606040"/>
            <a:ext cx="740664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Collected data via SpaceX API and web scraping, wrangled and explored it, then built classification models.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411480" cy="41148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4" name="Text 12"/>
          <p:cNvSpPr/>
          <p:nvPr/>
        </p:nvSpPr>
        <p:spPr>
          <a:xfrm>
            <a:off x="640080" y="370332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675888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0" y="3657600"/>
            <a:ext cx="740664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Best-performing model achieved [XX]% accuracy on held-out test launches — replace with your metric.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754880"/>
            <a:ext cx="411480" cy="41148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6"/>
          <p:cNvSpPr/>
          <p:nvPr/>
        </p:nvSpPr>
        <p:spPr>
          <a:xfrm>
            <a:off x="640080" y="475488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4727448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14800" y="4709160"/>
            <a:ext cx="740664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successful landing lowers launch cost dramatically; predicting it helps competitors estimate SpaceX's pricing edge.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 of 6 — Overview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046720" y="65379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Falcon 9 First-Stage Landing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Background &amp; Business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5" name="Shape 3"/>
          <p:cNvSpPr/>
          <p:nvPr/>
        </p:nvSpPr>
        <p:spPr>
          <a:xfrm>
            <a:off x="548640" y="155448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4F6FB"/>
          </a:solidFill>
        </p:spPr>
      </p:sp>
      <p:sp>
        <p:nvSpPr>
          <p:cNvPr id="6" name="Text 4"/>
          <p:cNvSpPr/>
          <p:nvPr/>
        </p:nvSpPr>
        <p:spPr>
          <a:xfrm>
            <a:off x="868680" y="178308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484632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SpaceX advertises Falcon 9 launches at ~$62M, far below competitors, largely because it reuses the first stage.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the first stage doesn't land, that cost advantage disappears.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Estimating landing probability lets a competitor (or analyst) estimate the true cost of a launch.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6629400" y="178308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This Analysis Answers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2286000"/>
            <a:ext cx="466344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 payload mass, launch site, orbit, and flight number relate to landing outcome?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features best predict a successful landing?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classification algorithm performs best on this data?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1 of 6 — Overview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0" y="65379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Falcon 9 First-Stage Landing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Collection &amp; Data Wrangling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5" name="Shape 3"/>
          <p:cNvSpPr/>
          <p:nvPr/>
        </p:nvSpPr>
        <p:spPr>
          <a:xfrm>
            <a:off x="548640" y="182880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4F6FB"/>
          </a:solidFill>
        </p:spPr>
      </p:sp>
      <p:sp>
        <p:nvSpPr>
          <p:cNvPr id="6" name="Shape 4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 via API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22860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Queried the SpaceX REST API for launch, rocket, payload, and core data.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9000" y="182880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4F6FB"/>
          </a:solidFill>
        </p:spPr>
      </p:sp>
      <p:sp>
        <p:nvSpPr>
          <p:cNvPr id="11" name="Shape 9"/>
          <p:cNvSpPr/>
          <p:nvPr/>
        </p:nvSpPr>
        <p:spPr>
          <a:xfrm>
            <a:off x="3657600" y="210312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657600" y="21031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274320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Scraping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3291840"/>
            <a:ext cx="22860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Scraped Wikipedia's Falcon 9 launch tables with BeautifulSoup for cross-checking.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182880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4F6FB"/>
          </a:solidFill>
        </p:spPr>
      </p:sp>
      <p:sp>
        <p:nvSpPr>
          <p:cNvPr id="16" name="Shape 14"/>
          <p:cNvSpPr/>
          <p:nvPr/>
        </p:nvSpPr>
        <p:spPr>
          <a:xfrm>
            <a:off x="6537960" y="210312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7" name="Text 15"/>
          <p:cNvSpPr/>
          <p:nvPr/>
        </p:nvSpPr>
        <p:spPr>
          <a:xfrm>
            <a:off x="6537960" y="21031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274320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&amp; Merge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3291840"/>
            <a:ext cx="22860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 sources, resolved missing values, and standardized data types.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89720" y="182880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4F6FB"/>
          </a:solidFill>
        </p:spPr>
      </p:sp>
      <p:sp>
        <p:nvSpPr>
          <p:cNvPr id="21" name="Shape 19"/>
          <p:cNvSpPr/>
          <p:nvPr/>
        </p:nvSpPr>
        <p:spPr>
          <a:xfrm>
            <a:off x="9418320" y="210312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2" name="Text 20"/>
          <p:cNvSpPr/>
          <p:nvPr/>
        </p:nvSpPr>
        <p:spPr>
          <a:xfrm>
            <a:off x="9418320" y="21031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72600" y="274320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 Outcomes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72600" y="3291840"/>
            <a:ext cx="22860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Converted landing outcome text into a binary Class label (1 = success, 0 = failure).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2 of 6 — Methodology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0" y="65379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Falcon 9 First-Stage Landing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EDA &amp; Interactive Visual Analytics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5" name="Shape 3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2926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Exploratory Data Analysis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80560" y="1645920"/>
            <a:ext cx="69494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pandas, Matplotlib, and Seaborn to examine relationships between flight number, payload, launch site, orbit, and outcome.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0" name="Text 8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880360"/>
            <a:ext cx="2926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Analysis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2880360"/>
            <a:ext cx="69494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Loaded the dataset into a SQLite/Db2 table and ran SQL queries to answer specific business questions.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4" name="Text 12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114800"/>
            <a:ext cx="2926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Visual Analytics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80560" y="4114800"/>
            <a:ext cx="69494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an interactive Folium map of launch sites and a Plotly Dash dashboard for live filtering by site and payload.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2 of 6 — Methodology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65379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Falcon 9 First-Stage Landing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Predictive Analysis (Classification)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5" name="Text 3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Modeling Workflow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548640" y="2103120"/>
            <a:ext cx="2057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Standardize Features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2103120"/>
            <a:ext cx="320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926080" y="210312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E8871E"/>
          </a:solidFill>
        </p:spPr>
      </p:sp>
      <p:sp>
        <p:nvSpPr>
          <p:cNvPr id="10" name="Text 8"/>
          <p:cNvSpPr/>
          <p:nvPr/>
        </p:nvSpPr>
        <p:spPr>
          <a:xfrm>
            <a:off x="2926080" y="2103120"/>
            <a:ext cx="2057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Train/Test Split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320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303520" y="210312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5303520" y="2103120"/>
            <a:ext cx="2057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GridSearchCV Tuning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0" y="2103120"/>
            <a:ext cx="320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80960" y="210312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E8871E"/>
          </a:solidFill>
        </p:spPr>
      </p:sp>
      <p:sp>
        <p:nvSpPr>
          <p:cNvPr id="16" name="Text 14"/>
          <p:cNvSpPr/>
          <p:nvPr/>
        </p:nvSpPr>
        <p:spPr>
          <a:xfrm>
            <a:off x="7680960" y="2103120"/>
            <a:ext cx="2057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Fit Models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92640" y="2103120"/>
            <a:ext cx="320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058400" y="2103120"/>
            <a:ext cx="205740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</p:spPr>
      </p:sp>
      <p:sp>
        <p:nvSpPr>
          <p:cNvPr id="19" name="Text 17"/>
          <p:cNvSpPr/>
          <p:nvPr/>
        </p:nvSpPr>
        <p:spPr>
          <a:xfrm>
            <a:off x="10058400" y="2103120"/>
            <a:ext cx="2057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 on Test Set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29184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Algorithms Compared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94760"/>
            <a:ext cx="2606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37560" y="379476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794760"/>
            <a:ext cx="2606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Vector Machine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379476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3794760"/>
            <a:ext cx="2606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Tree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915400" y="3794760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15400" y="3794760"/>
            <a:ext cx="2606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K-Nearest Neighbors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466344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selection metric: test-set accuracy, confirmed with a confusion matrix for each candidate.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2 of 6 — Methodology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0" y="65379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Falcon 9 First-Stage Landing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— VISUALIZATION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Flight Number vs. Launch Site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F4F6FB"/>
          </a:solidFill>
        </p:spPr>
      </p:sp>
      <p:graphicFrame>
        <p:nvGraphicFramePr>
          <p:cNvPr id="5" name="Chart 0"/>
          <p:cNvGraphicFramePr/>
          <p:nvPr/>
        </p:nvGraphicFramePr>
        <p:xfrm>
          <a:off x="548640" y="155448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55448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F4F6FB"/>
          </a:solidFill>
        </p:spPr>
      </p:sp>
      <p:sp>
        <p:nvSpPr>
          <p:cNvPr id="7" name="Text 4"/>
          <p:cNvSpPr/>
          <p:nvPr/>
        </p:nvSpPr>
        <p:spPr>
          <a:xfrm>
            <a:off x="8046720" y="178308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Reading This Chart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0" y="2240280"/>
            <a:ext cx="3291840" cy="3383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Later flights (higher flight number) show a higher success rate — replace with your actual pattern.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 flights cluster around failures as SpaceX iterated on landing technique.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5943600"/>
            <a:ext cx="6949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 with your matplotlib/seaborn chart or a native chart built from your data.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3 of 6 — EDA with Visualization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046720" y="65379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Falcon 9 First-Stage Landing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— VISUALIZATION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Payload Mass vs. Launch Site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F4F6FB"/>
          </a:solidFill>
        </p:spPr>
      </p:sp>
      <p:graphicFrame>
        <p:nvGraphicFramePr>
          <p:cNvPr id="5" name="Chart 0"/>
          <p:cNvGraphicFramePr/>
          <p:nvPr/>
        </p:nvGraphicFramePr>
        <p:xfrm>
          <a:off x="548640" y="155448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55448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F4F6FB"/>
          </a:solidFill>
        </p:spPr>
      </p:sp>
      <p:sp>
        <p:nvSpPr>
          <p:cNvPr id="7" name="Text 4"/>
          <p:cNvSpPr/>
          <p:nvPr/>
        </p:nvSpPr>
        <p:spPr>
          <a:xfrm>
            <a:off x="8046720" y="178308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Reading This Chart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0" y="2240280"/>
            <a:ext cx="3291840" cy="3383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KSC LC-39A shows the strongest success rate in this sample — swap in your real numbers.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Consider adding a payload-mass boxplot per site as a second panel.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3 of 6 — EDA with Visualization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46720" y="65379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Falcon 9 First-Stage Landing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— VISUALIZATION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Yearly Trend in Launch Success Rate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F4F6FB"/>
          </a:solidFill>
        </p:spPr>
      </p:sp>
      <p:graphicFrame>
        <p:nvGraphicFramePr>
          <p:cNvPr id="5" name="Chart 0"/>
          <p:cNvGraphicFramePr/>
          <p:nvPr/>
        </p:nvGraphicFramePr>
        <p:xfrm>
          <a:off x="548640" y="1554480"/>
          <a:ext cx="105156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43600"/>
            <a:ext cx="10515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 labels/values with your groupby(year).mean() results.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3 of 6 — EDA with Visualization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046720" y="65379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Falcon 9 First-Stage Landing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— SQL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Names of Booster Versions That Carried Payload &gt; 4000kg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5" name="Shape 3"/>
          <p:cNvSpPr/>
          <p:nvPr/>
        </p:nvSpPr>
        <p:spPr>
          <a:xfrm>
            <a:off x="548640" y="150876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141B49"/>
          </a:solidFill>
        </p:spPr>
      </p:sp>
      <p:sp>
        <p:nvSpPr>
          <p:cNvPr id="6" name="Text 4"/>
          <p:cNvSpPr/>
          <p:nvPr/>
        </p:nvSpPr>
        <p:spPr>
          <a:xfrm>
            <a:off x="777240" y="150876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FF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DISTINCT booster_version FROM spacex WHERE payload_mass_kg__ &gt; 4000;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48640" y="2651760"/>
          <a:ext cx="10515600" cy="1920240"/>
        </p:xfrm>
        <a:graphic>
          <a:graphicData uri="http://schemas.openxmlformats.org/drawingml/2006/table">
            <a:tbl>
              <a:tblPr/>
              <a:tblGrid>
                <a:gridCol w="1051560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Booster Version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F9 v1.1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F9 FT B1029.2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F9 B4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… replace with your query results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94360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rows shown. Run this query against your loaded table and paste the actual output.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4 of 6 — EDA with SQL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46720" y="65379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Falcon 9 First-Stage Landing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— SQL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Average Payload Mass Carried by Booster Version F9 v1.1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5" name="Shape 3"/>
          <p:cNvSpPr/>
          <p:nvPr/>
        </p:nvSpPr>
        <p:spPr>
          <a:xfrm>
            <a:off x="548640" y="150876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141B49"/>
          </a:solidFill>
        </p:spPr>
      </p:sp>
      <p:sp>
        <p:nvSpPr>
          <p:cNvPr id="6" name="Text 4"/>
          <p:cNvSpPr/>
          <p:nvPr/>
        </p:nvSpPr>
        <p:spPr>
          <a:xfrm>
            <a:off x="777240" y="150876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FF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AVG(payload_mass_kg__) FROM spacex WHERE booster_version = 'F9 v1.1';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48640" y="2651760"/>
          <a:ext cx="10515600" cy="914400"/>
        </p:xfrm>
        <a:graphic>
          <a:graphicData uri="http://schemas.openxmlformats.org/drawingml/2006/table">
            <a:tbl>
              <a:tblPr/>
              <a:tblGrid>
                <a:gridCol w="1051560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Average Payload Mass (kg)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2534.7  (sample value — replace)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94360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One-row aggregate result — replace with your actual AVG() output.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4 of 6 — EDA with SQL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46720" y="65379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Falcon 9 First-Stage Landing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— SQL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Total Number of Successful &amp; Failure Mission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5" name="Shape 3"/>
          <p:cNvSpPr/>
          <p:nvPr/>
        </p:nvSpPr>
        <p:spPr>
          <a:xfrm>
            <a:off x="548640" y="150876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141B49"/>
          </a:solidFill>
        </p:spPr>
      </p:sp>
      <p:sp>
        <p:nvSpPr>
          <p:cNvPr id="6" name="Text 4"/>
          <p:cNvSpPr/>
          <p:nvPr/>
        </p:nvSpPr>
        <p:spPr>
          <a:xfrm>
            <a:off x="777240" y="150876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FF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mission_outcome, COUNT(*) FROM spacex GROUP BY mission_outcome;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548640" y="2651760"/>
          <a:ext cx="10515600" cy="1536192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Mission Outcome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Count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Success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98 (sample)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Failure (in flight)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 (sample)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…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…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94360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 counts with your GROUP BY results.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4 of 6 — EDA with SQL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46720" y="65379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Falcon 9 First-Stage Landing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— SQL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Drone-Ship Landings, Payload 4000–6000kg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5" name="Shape 3"/>
          <p:cNvSpPr/>
          <p:nvPr/>
        </p:nvSpPr>
        <p:spPr>
          <a:xfrm>
            <a:off x="548640" y="150876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141B49"/>
          </a:solidFill>
        </p:spPr>
      </p:sp>
      <p:sp>
        <p:nvSpPr>
          <p:cNvPr id="6" name="Text 4"/>
          <p:cNvSpPr/>
          <p:nvPr/>
        </p:nvSpPr>
        <p:spPr>
          <a:xfrm>
            <a:off x="777240" y="150876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FF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 booster_version FROM spacex WHERE landing_outcome = 'Success (drone ship)'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FF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AND payload_mass_kg__ BETWEEN 4000 AND 6000;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48640" y="2651760"/>
          <a:ext cx="10515600" cy="1536192"/>
        </p:xfrm>
        <a:graphic>
          <a:graphicData uri="http://schemas.openxmlformats.org/drawingml/2006/table">
            <a:tbl>
              <a:tblPr/>
              <a:tblGrid>
                <a:gridCol w="1051560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Booster Version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F9 FT B1022.1 (sample)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F9 FT B1026.1 (sample)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… replace with your query results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94360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or remove rows as needed — keep the query text exactly as you ran it.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4 of 6 — EDA with SQL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46720" y="65379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Falcon 9 First-Stage Landing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VISUAL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Launch Sites on an Interactive Folium 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5" name="Shape 3"/>
          <p:cNvSpPr/>
          <p:nvPr/>
        </p:nvSpPr>
        <p:spPr>
          <a:xfrm>
            <a:off x="548640" y="1554480"/>
            <a:ext cx="6583680" cy="4297680"/>
          </a:xfrm>
          <a:prstGeom prst="roundRect">
            <a:avLst>
              <a:gd name="adj" fmla="val 1702"/>
            </a:avLst>
          </a:prstGeom>
          <a:solidFill>
            <a:srgbClr val="F4F6FB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6583680" cy="429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Screenshot of your Folium map goes here 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1920240"/>
            <a:ext cx="274320" cy="274320"/>
          </a:xfrm>
          <a:prstGeom prst="ellipse">
            <a:avLst/>
          </a:prstGeom>
          <a:solidFill>
            <a:srgbClr val="E8871E"/>
          </a:solidFill>
        </p:spPr>
      </p:sp>
      <p:sp>
        <p:nvSpPr>
          <p:cNvPr id="8" name="Shape 6"/>
          <p:cNvSpPr/>
          <p:nvPr/>
        </p:nvSpPr>
        <p:spPr>
          <a:xfrm>
            <a:off x="5394960" y="5120640"/>
            <a:ext cx="274320" cy="2743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Shape 7"/>
          <p:cNvSpPr/>
          <p:nvPr/>
        </p:nvSpPr>
        <p:spPr>
          <a:xfrm>
            <a:off x="6035040" y="2103120"/>
            <a:ext cx="274320" cy="274320"/>
          </a:xfrm>
          <a:prstGeom prst="ellipse">
            <a:avLst/>
          </a:prstGeom>
          <a:solidFill>
            <a:srgbClr val="E8871E"/>
          </a:solidFill>
        </p:spPr>
      </p:sp>
      <p:sp>
        <p:nvSpPr>
          <p:cNvPr id="10" name="Shape 8"/>
          <p:cNvSpPr/>
          <p:nvPr/>
        </p:nvSpPr>
        <p:spPr>
          <a:xfrm>
            <a:off x="7406640" y="1554480"/>
            <a:ext cx="4206240" cy="4297680"/>
          </a:xfrm>
          <a:prstGeom prst="roundRect">
            <a:avLst>
              <a:gd name="adj" fmla="val 1739"/>
            </a:avLst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7680960" y="17830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to Include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0" y="2240280"/>
            <a:ext cx="3657600" cy="347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Markers for every launch site, color-coded by success/failure.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MarkerCluster to group nearby launch records.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Lines/markers showing distance to coastline, highway, or city.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key observation about geographic siting.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4 of 6 — Interactive Visual Analytics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0" y="65379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Falcon 9 First-Stage Landing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VISUAL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Plotly Dash Launch Records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F4F6FB"/>
          </a:solidFill>
        </p:spPr>
      </p:sp>
      <p:sp>
        <p:nvSpPr>
          <p:cNvPr id="5" name="Shape 3"/>
          <p:cNvSpPr/>
          <p:nvPr/>
        </p:nvSpPr>
        <p:spPr>
          <a:xfrm>
            <a:off x="548640" y="1554480"/>
            <a:ext cx="6583680" cy="4297680"/>
          </a:xfrm>
          <a:prstGeom prst="roundRect">
            <a:avLst>
              <a:gd name="adj" fmla="val 1702"/>
            </a:avLst>
          </a:prstGeom>
          <a:solidFill>
            <a:srgbClr val="F4F6FB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6583680" cy="429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Screenshot of your Dash dashboard goes here 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06640" y="1554480"/>
            <a:ext cx="4206240" cy="4297680"/>
          </a:xfrm>
          <a:prstGeom prst="roundRect">
            <a:avLst>
              <a:gd name="adj" fmla="val 1739"/>
            </a:avLst>
          </a:prstGeom>
          <a:solidFill>
            <a:srgbClr val="1E2761"/>
          </a:solidFill>
        </p:spPr>
      </p:sp>
      <p:sp>
        <p:nvSpPr>
          <p:cNvPr id="8" name="Text 6"/>
          <p:cNvSpPr/>
          <p:nvPr/>
        </p:nvSpPr>
        <p:spPr>
          <a:xfrm>
            <a:off x="7680960" y="17830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Features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0" y="2240280"/>
            <a:ext cx="3657600" cy="347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Dropdown to filter by launch site (or All Sites).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Pie chart of total successful launches by site.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Range slider for payload mass.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Scatter plot: payload mass vs. success, colored by booster version.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4 of 6 — Interactive Visual Analytics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0" y="65379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Falcon 9 First-Stage Landing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 ANALYSIS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Classification Model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F4F6FB"/>
          </a:solidFill>
        </p:spPr>
      </p:sp>
      <p:graphicFrame>
        <p:nvGraphicFramePr>
          <p:cNvPr id="5" name="Chart 0"/>
          <p:cNvGraphicFramePr/>
          <p:nvPr/>
        </p:nvGraphicFramePr>
        <p:xfrm>
          <a:off x="548640" y="155448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55448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F4F6FB"/>
          </a:solidFill>
        </p:spPr>
      </p:sp>
      <p:sp>
        <p:nvSpPr>
          <p:cNvPr id="7" name="Text 4"/>
          <p:cNvSpPr/>
          <p:nvPr/>
        </p:nvSpPr>
        <p:spPr>
          <a:xfrm>
            <a:off x="8046720" y="178308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Model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0" y="214884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Decision Tree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046720" y="2743200"/>
            <a:ext cx="329184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 with your best-performing model and its tuned hyperparameters.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 the GridSearchCV best params here.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5 of 6 — Predictive Analysis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046720" y="65379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Falcon 9 First-Stage Landing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 ANALYSIS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Confusion Matrix — Best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18288"/>
          </a:xfrm>
          <a:prstGeom prst="rect">
            <a:avLst/>
          </a:prstGeom>
          <a:solidFill>
            <a:srgbClr val="F4F6FB"/>
          </a:solidFill>
        </p:spPr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731520" y="1737360"/>
          <a:ext cx="5852160" cy="3017520"/>
        </p:xfrm>
        <a:graphic>
          <a:graphicData uri="http://schemas.openxmlformats.org/drawingml/2006/table">
            <a:tbl>
              <a:tblPr/>
              <a:tblGrid>
                <a:gridCol w="2011680"/>
                <a:gridCol w="1920240"/>
                <a:gridCol w="1920240"/>
              </a:tblGrid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Predicted: No Landing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Predicted: Landing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Actual: No Landing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5B647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Actual: Landing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5B647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13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663440"/>
            <a:ext cx="5852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matrix — replace values with your confusion_matrix() output.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040880" y="1737360"/>
            <a:ext cx="4572000" cy="4023360"/>
          </a:xfrm>
          <a:prstGeom prst="roundRect">
            <a:avLst>
              <a:gd name="adj" fmla="val 1818"/>
            </a:avLst>
          </a:prstGeom>
          <a:solidFill>
            <a:srgbClr val="F4F6FB"/>
          </a:solidFill>
        </p:spPr>
      </p:sp>
      <p:sp>
        <p:nvSpPr>
          <p:cNvPr id="8" name="Text 5"/>
          <p:cNvSpPr/>
          <p:nvPr/>
        </p:nvSpPr>
        <p:spPr>
          <a:xfrm>
            <a:off x="7315200" y="196596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This Tells Us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0" y="2423160"/>
            <a:ext cx="402336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false predictions were “actual landing, predicted no landing” — note the pattern you actually see.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 precision, recall, and F1 alongside accuracy.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 whether false positives or false negatives matter more for this business question.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5 of 6 — Predictive Analysis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046720" y="65379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Falcon 9 First-Stage Landing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41B49"/>
          </a:solidFill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87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We Learned — and What It Means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411480" cy="411480"/>
          </a:xfrm>
          <a:prstGeom prst="ellipse">
            <a:avLst/>
          </a:prstGeom>
          <a:solidFill>
            <a:srgbClr val="E8871E"/>
          </a:solidFill>
        </p:spPr>
      </p:sp>
      <p:sp>
        <p:nvSpPr>
          <p:cNvPr id="6" name="Text 4"/>
          <p:cNvSpPr/>
          <p:nvPr/>
        </p:nvSpPr>
        <p:spPr>
          <a:xfrm>
            <a:off x="822960" y="196596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9601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Landing success rate has climbed steadily since 2013 as SpaceX refined its technique.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411480" cy="411480"/>
          </a:xfrm>
          <a:prstGeom prst="ellipse">
            <a:avLst/>
          </a:prstGeom>
          <a:solidFill>
            <a:srgbClr val="E8871E"/>
          </a:solidFill>
        </p:spPr>
      </p:sp>
      <p:sp>
        <p:nvSpPr>
          <p:cNvPr id="9" name="Text 7"/>
          <p:cNvSpPr/>
          <p:nvPr/>
        </p:nvSpPr>
        <p:spPr>
          <a:xfrm>
            <a:off x="822960" y="292608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880360"/>
            <a:ext cx="9601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[Model name] was the strongest predictor, reaching [XX]% test accuracy.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886200"/>
            <a:ext cx="411480" cy="411480"/>
          </a:xfrm>
          <a:prstGeom prst="ellipse">
            <a:avLst/>
          </a:prstGeom>
          <a:solidFill>
            <a:srgbClr val="E8871E"/>
          </a:solidFill>
        </p:spPr>
      </p:sp>
      <p:sp>
        <p:nvSpPr>
          <p:cNvPr id="12" name="Text 10"/>
          <p:cNvSpPr/>
          <p:nvPr/>
        </p:nvSpPr>
        <p:spPr>
          <a:xfrm>
            <a:off x="822960" y="388620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3840480"/>
            <a:ext cx="9601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 site, payload mass, and orbit type all carry predictive signal.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846320"/>
            <a:ext cx="411480" cy="411480"/>
          </a:xfrm>
          <a:prstGeom prst="ellipse">
            <a:avLst/>
          </a:prstGeom>
          <a:solidFill>
            <a:srgbClr val="E8871E"/>
          </a:solidFill>
        </p:spPr>
      </p:sp>
      <p:sp>
        <p:nvSpPr>
          <p:cNvPr id="15" name="Text 13"/>
          <p:cNvSpPr/>
          <p:nvPr/>
        </p:nvSpPr>
        <p:spPr>
          <a:xfrm>
            <a:off x="822960" y="484632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B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4800600"/>
            <a:ext cx="9601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These results let outside observers estimate SpaceX's real launch cost — informing competitive strategy.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603504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 — questions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7285</Words>
  <Application>WPS Presentation</Application>
  <PresentationFormat>On-screen Show (16:9)</PresentationFormat>
  <Paragraphs>389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Calibri</vt:lpstr>
      <vt:lpstr>Arial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Amisha Mishra</cp:lastModifiedBy>
  <cp:revision>3</cp:revision>
  <dcterms:created xsi:type="dcterms:W3CDTF">2026-08-09T12:33:00Z</dcterms:created>
  <dcterms:modified xsi:type="dcterms:W3CDTF">2026-08-09T12:37:19Z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CCA25B70A2CD4731A0E260F064AA33BE_13</vt:lpwstr>
  </property>
  <property fmtid="{D5CDD505-2E9C-101B-9397-08002B2CF9AE}" pid="3" name="KSOProductBuildVer">
    <vt:lpwstr>1033-12.1.0.28032</vt:lpwstr>
  </property>
</Properties>
</file>